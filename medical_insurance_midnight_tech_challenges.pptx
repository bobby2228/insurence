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005840"/>
            <a:ext cx="109728" cy="438912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325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600" b="1">
                <a:solidFill>
                  <a:srgbClr val="EFF6FF"/>
                </a:solidFill>
                <a:latin typeface="Aptos"/>
              </a:defRPr>
            </a:pPr>
            <a:r>
              <a:t>MEDICAL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22219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32CDE7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1729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9DB1C9"/>
                </a:solidFill>
                <a:latin typeface="Aptos"/>
              </a:defRPr>
            </a:pPr>
            <a:r>
              <a:t>Regression • Classification • Model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" y="4663440"/>
            <a:ext cx="9966960" cy="77724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4873752"/>
            <a:ext cx="9326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FF6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K. </a:t>
            </a:r>
            <a:r>
              <a:rPr lang="en-IN" dirty="0" err="1"/>
              <a:t>Vandan</a:t>
            </a:r>
            <a:r>
              <a:rPr lang="en-IN" dirty="0"/>
              <a:t> Kumar</a:t>
            </a:r>
            <a:r>
              <a:rPr dirty="0"/>
              <a:t>     |     Organization: </a:t>
            </a:r>
            <a:r>
              <a:rPr lang="en-IN" dirty="0" err="1"/>
              <a:t>Ramanasoft</a:t>
            </a:r>
            <a:r>
              <a:rPr dirty="0"/>
              <a:t>     |    </a:t>
            </a:r>
            <a:r>
              <a:rPr lang="en-IN" dirty="0"/>
              <a:t>12th</a:t>
            </a:r>
            <a:r>
              <a:rPr dirty="0"/>
              <a:t>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01 |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Why Medical Insurance Analytics?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Insurance charges vary across individuals and demographic factors.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53512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843784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Machine learning helps identify patterns in historical insurance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23944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014215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This project explores both cost prediction and smoking-status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02 | 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57800" cy="347472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57800" cy="347472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385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32CDE7"/>
                </a:solidFill>
                <a:latin typeface="Aptos"/>
              </a:defRPr>
            </a:pPr>
            <a:r>
              <a:t>01 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88336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EFF6FF"/>
                </a:solidFill>
                <a:latin typeface="Aptos"/>
              </a:defRPr>
            </a:pPr>
            <a:r>
              <a:t>Predict insurance 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8620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9DB1C9"/>
                </a:solidFill>
                <a:latin typeface="Aptos"/>
              </a:defRPr>
            </a:pPr>
            <a:r>
              <a:t>Target: charges</a:t>
            </a:r>
          </a:p>
          <a:p>
            <a:pPr>
              <a:spcAft>
                <a:spcPts val="900"/>
              </a:spcAft>
              <a:defRPr sz="1700" b="0">
                <a:solidFill>
                  <a:srgbClr val="9DB1C9"/>
                </a:solidFill>
                <a:latin typeface="Aptos"/>
              </a:defRPr>
            </a:pPr>
            <a:r>
              <a:t>Algorithm: Linear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385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38D8AD"/>
                </a:solidFill>
                <a:latin typeface="Aptos"/>
              </a:defRPr>
            </a:pPr>
            <a:r>
              <a:t>02 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88336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EFF6FF"/>
                </a:solidFill>
                <a:latin typeface="Aptos"/>
              </a:defRPr>
            </a:pPr>
            <a:r>
              <a:t>Predict smoking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8620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9DB1C9"/>
                </a:solidFill>
                <a:latin typeface="Aptos"/>
              </a:defRPr>
            </a:pPr>
            <a:r>
              <a:t>Target: smoker (0 / 1)</a:t>
            </a:r>
          </a:p>
          <a:p>
            <a:pPr>
              <a:spcAft>
                <a:spcPts val="900"/>
              </a:spcAft>
              <a:defRPr sz="1700" b="0">
                <a:solidFill>
                  <a:srgbClr val="9DB1C9"/>
                </a:solidFill>
                <a:latin typeface="Aptos"/>
              </a:defRPr>
            </a:pPr>
            <a:r>
              <a:t>Algorithm: Logistic Regression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03 |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8328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3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6543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1,337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508760"/>
            <a:ext cx="338328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150876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69163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066543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08760"/>
            <a:ext cx="338328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50876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3" y="169163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DUPLICATES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066543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558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2CDE7"/>
                </a:solidFill>
                <a:latin typeface="Aptos"/>
              </a:defRPr>
            </a:pPr>
            <a:r>
              <a:t>Dataset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3867911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EFF6FF"/>
                </a:solidFill>
                <a:latin typeface="Aptos"/>
              </a:defRPr>
            </a:pPr>
            <a:r>
              <a:t>age  •  sex  •  bmi  •  children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45152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535424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EFF6FF"/>
                </a:solidFill>
                <a:latin typeface="Aptos"/>
              </a:defRPr>
            </a:pPr>
            <a:r>
              <a:t>smoker  •  region  •  charges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12664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202936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EFF6FF"/>
                </a:solidFill>
                <a:latin typeface="Aptos"/>
              </a:defRPr>
            </a:pPr>
            <a:r>
              <a:t>Source: publicly available insurance.csv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04 |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05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16636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91639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NON-SMOKERS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66543"/>
            <a:ext cx="4892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1,063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334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79.5% of cleaned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508760"/>
            <a:ext cx="516636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508760"/>
            <a:ext cx="54864" cy="1481328"/>
          </a:xfrm>
          <a:prstGeom prst="rect">
            <a:avLst/>
          </a:prstGeom>
          <a:solidFill>
            <a:srgbClr val="38D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691639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SMOKERS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66543"/>
            <a:ext cx="4892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8D8AD"/>
                </a:solidFill>
                <a:latin typeface="Aptos"/>
              </a:defRPr>
            </a:pPr>
            <a:r>
              <a:t>274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6334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20.5% of cleaned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2CDE7"/>
                </a:solidFill>
                <a:latin typeface="Aptos"/>
              </a:defRPr>
            </a:pPr>
            <a:r>
              <a:t>Key exploration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50208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840480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Missing values and duplicates checked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81144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471416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Univariate distributions and feature-vs-charges plots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212080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102352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Correlation heatmap and smoker-versus-charges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05 |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Cleaning &amp; Preprocessing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697480" cy="297180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32CDE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62656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EFF6FF"/>
                </a:solidFill>
                <a:latin typeface="Aptos"/>
              </a:defRPr>
            </a:pPr>
            <a:r>
              <a:t>Remove duplicate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5079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DB1C9"/>
                </a:solidFill>
                <a:latin typeface="Aptos"/>
              </a:defRPr>
            </a:pPr>
            <a:r>
              <a:t>1,338 → 1,337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97480" cy="297180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85615" y="2240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32CDE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2962656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EFF6FF"/>
                </a:solidFill>
                <a:latin typeface="Aptos"/>
              </a:defRPr>
            </a:pPr>
            <a:r>
              <a:t>Encode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405079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DB1C9"/>
                </a:solidFill>
                <a:latin typeface="Aptos"/>
              </a:defRPr>
            </a:pPr>
            <a:r>
              <a:t>One-Hot Encoding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3096" y="1965960"/>
            <a:ext cx="2697480" cy="297180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84264" y="2240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32CDE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962656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EFF6FF"/>
                </a:solidFill>
                <a:latin typeface="Aptos"/>
              </a:defRPr>
            </a:pPr>
            <a:r>
              <a:t>Scale numeric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405079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DB1C9"/>
                </a:solidFill>
                <a:latin typeface="Aptos"/>
              </a:defRPr>
            </a:pPr>
            <a:r>
              <a:t>StandardScaler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1965960"/>
            <a:ext cx="2697480" cy="2971800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82912" y="2240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32CDE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2962656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EFF6FF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405079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DB1C9"/>
                </a:solidFill>
                <a:latin typeface="Aptos"/>
              </a:defRPr>
            </a:pPr>
            <a:r>
              <a:t>80% train / 20%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9DB1C9"/>
                </a:solidFill>
                <a:latin typeface="Aptos"/>
              </a:defRPr>
            </a:pPr>
            <a:r>
              <a:t>Classification split uses stratification to preserve class proportions.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06 | MODEL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Linear Regression — Charge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07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00784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591056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Inputs: age, sex, BMI, children, smoker,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24328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Target: medical insurance charges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47872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438144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Train a Linear Regression model on processed training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71416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61688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EFF6FF"/>
                </a:solidFill>
                <a:latin typeface="Aptos"/>
              </a:defRPr>
            </a:pPr>
            <a:r>
              <a:t>Evaluate predictions on the held-out test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07 |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Linear Regression —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08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73352"/>
            <a:ext cx="525780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73352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562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R²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31136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0.8069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980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~80.69% of test-set variance explained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73352"/>
            <a:ext cx="525780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73352"/>
            <a:ext cx="54864" cy="1481328"/>
          </a:xfrm>
          <a:prstGeom prst="rect">
            <a:avLst/>
          </a:prstGeom>
          <a:solidFill>
            <a:srgbClr val="38D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31136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8D8AD"/>
                </a:solidFill>
                <a:latin typeface="Aptos"/>
              </a:defRPr>
            </a:pPr>
            <a:r>
              <a:t>5,956.34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9806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Charge units as provided in dataset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74720"/>
            <a:ext cx="525780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474720"/>
            <a:ext cx="54864" cy="1481328"/>
          </a:xfrm>
          <a:prstGeom prst="rect">
            <a:avLst/>
          </a:prstGeom>
          <a:solidFill>
            <a:srgbClr val="FFB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65760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032504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B660"/>
                </a:solidFill>
                <a:latin typeface="Aptos"/>
              </a:defRPr>
            </a:pPr>
            <a:r>
              <a:t>4,177.05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74720"/>
            <a:ext cx="5257800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47472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32504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35,478,020.68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9DB1C9"/>
                </a:solidFill>
                <a:latin typeface="Aptos"/>
              </a:defRPr>
            </a:pPr>
            <a:r>
              <a:t>Takeaway: useful predictive fit, with remaining errors on individual charges.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08 | MODEL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Logistic Regression — Smoking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64208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EFF6FF"/>
                </a:solidFill>
                <a:latin typeface="Aptos"/>
              </a:defRPr>
            </a:pPr>
            <a:r>
              <a:t>Inputs: age, sex, BMI, children, region, charges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33472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EFF6FF"/>
                </a:solidFill>
                <a:latin typeface="Aptos"/>
              </a:defRPr>
            </a:pPr>
            <a:r>
              <a:t>Target labels: 0 = Non-Smoker; 1 = Smoker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493008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EFF6FF"/>
                </a:solidFill>
                <a:latin typeface="Aptos"/>
              </a:defRPr>
            </a:pPr>
            <a:r>
              <a:t>Stratified 80/20 train-test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72000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62272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EFF6FF"/>
                </a:solidFill>
                <a:latin typeface="Aptos"/>
              </a:defRPr>
            </a:pPr>
            <a:r>
              <a:t>Logistic Regression predicts smoker / non-smoker 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09 |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Classification —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5230368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28800"/>
            <a:ext cx="4910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03704"/>
            <a:ext cx="49560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96.27%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645920"/>
            <a:ext cx="5230368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645920"/>
            <a:ext cx="54864" cy="1481328"/>
          </a:xfrm>
          <a:prstGeom prst="rect">
            <a:avLst/>
          </a:prstGeom>
          <a:solidFill>
            <a:srgbClr val="38D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828800"/>
            <a:ext cx="4910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03704"/>
            <a:ext cx="49560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8D8AD"/>
                </a:solidFill>
                <a:latin typeface="Aptos"/>
              </a:defRPr>
            </a:pPr>
            <a:r>
              <a:t>92.45%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770632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Smoker 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74720"/>
            <a:ext cx="5230368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474720"/>
            <a:ext cx="54864" cy="1481328"/>
          </a:xfrm>
          <a:prstGeom prst="rect">
            <a:avLst/>
          </a:prstGeom>
          <a:solidFill>
            <a:srgbClr val="FFB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657600"/>
            <a:ext cx="4910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032504"/>
            <a:ext cx="49560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B660"/>
                </a:solidFill>
                <a:latin typeface="Aptos"/>
              </a:defRPr>
            </a:pPr>
            <a:r>
              <a:t>89.09%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599431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Smoker 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474720"/>
            <a:ext cx="5230368" cy="1481328"/>
          </a:xfrm>
          <a:prstGeom prst="roundRect">
            <a:avLst/>
          </a:prstGeom>
          <a:solidFill>
            <a:srgbClr val="17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5352" y="3474720"/>
            <a:ext cx="54864" cy="1481328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657600"/>
            <a:ext cx="4910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9DB1C9"/>
                </a:solidFill>
                <a:latin typeface="Aptos"/>
              </a:defRPr>
            </a:pPr>
            <a:r>
              <a:t>F1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032504"/>
            <a:ext cx="49560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32CDE7"/>
                </a:solidFill>
                <a:latin typeface="Aptos"/>
              </a:defRPr>
            </a:pPr>
            <a:r>
              <a:t>90.74%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599431"/>
            <a:ext cx="4910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9DB1C9"/>
                </a:solidFill>
                <a:latin typeface="Aptos"/>
              </a:defRPr>
            </a:pPr>
            <a:r>
              <a:t>Smoker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875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9DB1C9"/>
                </a:solidFill>
                <a:latin typeface="Aptos"/>
              </a:defRPr>
            </a:pPr>
            <a:r>
              <a:t>Confusion matrix: TN 209  |  FP 4  |  FN 6  |  TP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200" b="1">
                <a:solidFill>
                  <a:srgbClr val="35B6DB"/>
                </a:solidFill>
                <a:latin typeface="Aptos"/>
              </a:defRPr>
            </a:pPr>
            <a:r>
              <a:t>10 | DEVELOPMENT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Challenges Faced &amp; How We Solved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5440680" cy="1261872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" y="1709928"/>
            <a:ext cx="54864" cy="77724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64592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500" b="1">
                <a:solidFill>
                  <a:srgbClr val="35B6DB"/>
                </a:solidFill>
                <a:latin typeface="Aptos"/>
              </a:defRPr>
            </a:pPr>
            <a:r>
              <a:t>01  DUPLICATE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66544"/>
            <a:ext cx="46634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300" b="0">
                <a:solidFill>
                  <a:srgbClr val="E3EEFB"/>
                </a:solidFill>
                <a:latin typeface="Aptos"/>
              </a:defRPr>
            </a:pPr>
            <a:r>
              <a:t>Removed 1 duplicate row: 1,338 → 1,337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81328"/>
            <a:ext cx="5440680" cy="1261872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73952" y="1709928"/>
            <a:ext cx="54864" cy="77724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164592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500" b="1">
                <a:solidFill>
                  <a:srgbClr val="35B6DB"/>
                </a:solidFill>
                <a:latin typeface="Aptos"/>
              </a:defRPr>
            </a:pPr>
            <a:r>
              <a:t>02  CATEGORICAL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066544"/>
            <a:ext cx="46634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300" b="0">
                <a:solidFill>
                  <a:srgbClr val="E3EEFB"/>
                </a:solidFill>
                <a:latin typeface="Aptos"/>
              </a:defRPr>
            </a:pPr>
            <a:r>
              <a:t>One-Hot Encoded sex, region and smoker (when an input).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90088"/>
            <a:ext cx="5440680" cy="1261872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" y="3218688"/>
            <a:ext cx="54864" cy="77724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15468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500" b="1">
                <a:solidFill>
                  <a:srgbClr val="35B6DB"/>
                </a:solidFill>
                <a:latin typeface="Aptos"/>
              </a:defRPr>
            </a:pPr>
            <a:r>
              <a:t>03  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575304"/>
            <a:ext cx="46634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300" b="0">
                <a:solidFill>
                  <a:srgbClr val="E3EEFB"/>
                </a:solidFill>
                <a:latin typeface="Aptos"/>
              </a:defRPr>
            </a:pPr>
            <a:r>
              <a:t>Standardized numerical features using StandardScaler.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90088"/>
            <a:ext cx="5440680" cy="1261872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73952" y="3218688"/>
            <a:ext cx="54864" cy="77724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3408" y="315468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500" b="1">
                <a:solidFill>
                  <a:srgbClr val="35B6DB"/>
                </a:solidFill>
                <a:latin typeface="Aptos"/>
              </a:defRPr>
            </a:pPr>
            <a:r>
              <a:t>04  DATA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575304"/>
            <a:ext cx="46634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300" b="0">
                <a:solidFill>
                  <a:srgbClr val="E3EEFB"/>
                </a:solidFill>
                <a:latin typeface="Aptos"/>
              </a:defRPr>
            </a:pPr>
            <a:r>
              <a:t>Fitted preprocessing on training data only; transformed test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498848"/>
            <a:ext cx="5440680" cy="1261872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8952" y="4727448"/>
            <a:ext cx="54864" cy="77724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66344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500" b="1">
                <a:solidFill>
                  <a:srgbClr val="35B6DB"/>
                </a:solidFill>
                <a:latin typeface="Aptos"/>
              </a:defRPr>
            </a:pPr>
            <a:r>
              <a:t>05  CLASS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084064"/>
            <a:ext cx="46634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300" b="0">
                <a:solidFill>
                  <a:srgbClr val="E3EEFB"/>
                </a:solidFill>
                <a:latin typeface="Aptos"/>
              </a:defRPr>
            </a:pPr>
            <a:r>
              <a:t>Stratified the split and checked precision, recall and F1.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98848"/>
            <a:ext cx="5440680" cy="1261872"/>
          </a:xfrm>
          <a:prstGeom prst="roundRect">
            <a:avLst/>
          </a:prstGeom>
          <a:solidFill>
            <a:srgbClr val="1B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73952" y="4727448"/>
            <a:ext cx="54864" cy="777240"/>
          </a:xfrm>
          <a:prstGeom prst="rect">
            <a:avLst/>
          </a:prstGeom>
          <a:solidFill>
            <a:srgbClr val="35B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93408" y="4663440"/>
            <a:ext cx="480060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500" b="1">
                <a:solidFill>
                  <a:srgbClr val="35B6DB"/>
                </a:solidFill>
                <a:latin typeface="Aptos"/>
              </a:defRPr>
            </a:pPr>
            <a:r>
              <a:t>06  MODEL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5084064"/>
            <a:ext cx="4663440" cy="5486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300" b="0">
                <a:solidFill>
                  <a:srgbClr val="E3EEFB"/>
                </a:solidFill>
                <a:latin typeface="Aptos"/>
              </a:defRPr>
            </a:pPr>
            <a:r>
              <a:t>Reviewed residual plots and the classification confusion matrix.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15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6126480"/>
            <a:ext cx="9144000" cy="2468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0">
                <a:solidFill>
                  <a:srgbClr val="A1B3CA"/>
                </a:solidFill>
                <a:latin typeface="Aptos"/>
              </a:defRPr>
            </a:pPr>
            <a:r>
              <a:t>Technical challenges addressed during the project — not necessarily coding errors.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000" b="0">
                <a:solidFill>
                  <a:srgbClr val="A1B3CA"/>
                </a:solidFill>
                <a:latin typeface="Aptos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11 |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Key Findings &amp;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45336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435607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Linear Regression explained ~80.69% of variation in test-set charges.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40864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231136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Logistic Regression achieved 96.27% test-set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36391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026663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Smoker recall (89.09%) shows some actual smokers were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31920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22191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Classification uses charges as a predictor; interpret accuracy in that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27448"/>
            <a:ext cx="91440" cy="91440"/>
          </a:xfrm>
          <a:prstGeom prst="round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10424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FF6FF"/>
                </a:solidFill>
                <a:latin typeface="Aptos"/>
              </a:defRPr>
            </a:pPr>
            <a:r>
              <a:t>Results are from one dataset and one held-out split.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38912"/>
            <a:ext cx="438912" cy="54864"/>
          </a:xfrm>
          <a:prstGeom prst="rect">
            <a:avLst/>
          </a:prstGeom>
          <a:solidFill>
            <a:srgbClr val="32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2CDE7"/>
                </a:solidFill>
                <a:latin typeface="Aptos"/>
              </a:defRPr>
            </a:pPr>
            <a:r>
              <a:t>12 | 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EFF6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74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5200" b="1">
                <a:solidFill>
                  <a:srgbClr val="32CDE7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9DB1C9"/>
                </a:solidFill>
                <a:latin typeface="Aptos"/>
              </a:defRPr>
            </a:pPr>
            <a:r>
              <a:t>Project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EFF6FF"/>
                </a:solidFill>
                <a:latin typeface="Aptos"/>
              </a:defRPr>
            </a:pPr>
            <a:r>
              <a:t>github.com/k1222004kumar-create/insurance-ml-project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327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9DB1C9"/>
                </a:solidFill>
                <a:latin typeface="Aptos"/>
              </a:defRPr>
            </a:pPr>
            <a:r>
              <a:t>Medical Insurance Machine Learning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603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VANDAN KUMAR</dc:creator>
  <cp:keywords/>
  <dc:description>generated using python-pptx</dc:description>
  <cp:lastModifiedBy>VANDAN KUMAR</cp:lastModifiedBy>
  <cp:revision>2</cp:revision>
  <dcterms:created xsi:type="dcterms:W3CDTF">2013-01-27T09:14:16Z</dcterms:created>
  <dcterms:modified xsi:type="dcterms:W3CDTF">2026-10-11T18:41:36Z</dcterms:modified>
  <cp:category/>
</cp:coreProperties>
</file>